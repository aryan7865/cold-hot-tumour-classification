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8076" y="1508760"/>
            <a:ext cx="11126419" cy="2377440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Cold vs Hot tumour immune phenotypes from bulk RNA-seq</a:t>
            </a:r>
          </a:p>
          <a:p>
            <a:pPr>
              <a:lnSpc>
                <a:spcPct val="112000"/>
              </a:lnSpc>
              <a:spcBef>
                <a:spcPts val="1200"/>
              </a:spcBef>
            </a:pPr>
            <a:r>
              <a:rPr sz="1500" b="0">
                <a:solidFill>
                  <a:srgbClr val="94A3B8"/>
                </a:solidFill>
                <a:latin typeface="Arial"/>
              </a:rPr>
              <a:t>TCGA colon (COAD) and rectum (READ) adenocarcinoma · ssGSEA + ESTIMATE labelling · hypothesis testing, dimensionality reduction, clustering, six classifiers, survival, and held-out cohort validation.</a:t>
            </a:r>
          </a:p>
          <a:p>
            <a:pPr>
              <a:spcBef>
                <a:spcPts val="2200"/>
              </a:spcBef>
            </a:pPr>
            <a:r>
              <a:rPr sz="1200" b="0">
                <a:solidFill>
                  <a:srgbClr val="06B6D4"/>
                </a:solidFill>
                <a:latin typeface="Arial"/>
              </a:rPr>
              <a:t>BT3041 — Analysis and Interpretation of Biological Data · IIT Madras · 2025–26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076" y="2148840"/>
            <a:ext cx="128016" cy="22402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8076" y="4434840"/>
            <a:ext cx="11126419" cy="1783080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4A3B8"/>
                </a:solidFill>
                <a:latin typeface="Arial"/>
              </a:rPr>
              <a:t>This deck summarises a full computational pipeline (10 Python modules) from raw GDC downloads to publication-style figures. Discovery cohort: 294 COAD samples; external test: 109 READ samples. All numeric results on result slides are loaded from outputs/tables when you run build_presentation.py — regenerate after re-running the pipeline.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076" y="6528816"/>
            <a:ext cx="11126419" cy="292608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rial"/>
              </a:rPr>
              <a:t>https://github.com/Aryan7865/cold-hot-tumour-classification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8076" y="310896"/>
            <a:ext cx="11126419" cy="804672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Arial"/>
              </a:rPr>
              <a:t>Clinical and scientific motivation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00" b="0">
                <a:solidFill>
                  <a:srgbClr val="64748B"/>
                </a:solidFill>
                <a:latin typeface="Arial"/>
              </a:rPr>
              <a:t>Why bulk RNA-seq for immune phenotype?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076" y="1078992"/>
            <a:ext cx="11126419" cy="5404104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E293B"/>
                </a:solidFill>
                <a:latin typeface="Arial"/>
              </a:rPr>
              <a:t>Immune checkpoint inhibitors (e.g. anti–PD-1) can produce durable responses in a subset of microsatellite-instable colorectal cancers, but most metastatic CRC remains checkpoint-refractory. Clinical benefit correlates with an inflamed, T-cell–rich (“hot”) microenvironment versus an immune-excluded or deserted (“cold”) state.</a:t>
            </a:r>
            <a:br/>
            <a:br/>
            <a:r>
              <a:rPr sz="1300" b="0">
                <a:solidFill>
                  <a:srgbClr val="1E293B"/>
                </a:solidFill>
                <a:latin typeface="Arial"/>
              </a:rPr>
              <a:t>Multiplex immunohistochemistry is informative but not universally available. Bulk RNA-seq is increasingly standard in research and translational settings: it measures thousands of transcripts per tumour simultaneously, enabling both exploratory visualisation and formal inference.</a:t>
            </a:r>
            <a:br/>
            <a:br/>
            <a:r>
              <a:rPr sz="1300" b="0">
                <a:solidFill>
                  <a:srgbClr val="1E293B"/>
                </a:solidFill>
                <a:latin typeface="Arial"/>
              </a:rPr>
              <a:t>Our project asks whether computational immune scores and downstream statistics/ML can recover hot–cold–intermediate structure from expression alone, and whether a classifier trained in one TCGA cohort predicts labels in a second, independent cohort — satisfying BT3041’s emphasis on large-scale omics, hypothesis testing, and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076" y="6528816"/>
            <a:ext cx="11126419" cy="292608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References: Charoentong et al., Cell Reports 2017; Yoshihara et al., Nat Commun 2013 (ESTIMATE)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8076" y="310896"/>
            <a:ext cx="11126419" cy="804672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Arial"/>
              </a:rPr>
              <a:t>Research questions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00" b="0">
                <a:solidFill>
                  <a:srgbClr val="64748B"/>
                </a:solidFill>
                <a:latin typeface="Arial"/>
              </a:rPr>
              <a:t>Mapped to the course project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076" y="1078992"/>
            <a:ext cx="11126419" cy="5404104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1E293B"/>
                </a:solidFill>
                <a:latin typeface="Arial"/>
              </a:rPr>
              <a:t>Exploratory: Do PCA, ICA, MDS, t-SNE, and UMAP reveal gradients or clusters that relate to immune-derived Hot/Cold/Intermediate labels?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1E293B"/>
                </a:solidFill>
                <a:latin typeface="Arial"/>
              </a:rPr>
              <a:t>Hypothesis-driven: After filtering, do tens of thousands of genes show Hot vs Cold differences by parametric and non-parametric tests, with Benjamini–Hochberg and Bonferroni control of false positives?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1E293B"/>
                </a:solidFill>
                <a:latin typeface="Arial"/>
              </a:rPr>
              <a:t>Clustering: Do k-means, hierarchical (Ward), and DBSCAN partitions agree (ARI/AMI) with ssGSEA tertiles?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1E293B"/>
                </a:solidFill>
                <a:latin typeface="Arial"/>
              </a:rPr>
              <a:t>Classification: Can pipelines including kNN, linear/RBF SVM, logistic regression, Random Forest, and XGBoost predict phenotype under stratified 5-fold CV?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1E293B"/>
                </a:solidFill>
                <a:latin typeface="Arial"/>
              </a:rPr>
              <a:t>Validation: Does the best discovery model generalise to TCGA-READ patients never used in training?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1E293B"/>
                </a:solidFill>
                <a:latin typeface="Arial"/>
              </a:rPr>
              <a:t>Outcome: Do Kaplan–Meier curves and Cox/PLS models link immune tertiles to overall survival on COAD?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076" y="6528816"/>
            <a:ext cx="11126419" cy="292608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Presentation target: 7 min talk + 3 min Q&amp;A (per course schedule)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8076" y="310896"/>
            <a:ext cx="11126419" cy="804672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Arial"/>
              </a:rPr>
              <a:t>Data acquisition &amp; cohort design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00" b="0">
                <a:solidFill>
                  <a:srgbClr val="64748B"/>
                </a:solidFill>
                <a:latin typeface="Arial"/>
              </a:rPr>
              <a:t>TCGA GDC · STAR unstranded counts · harmonised gene symbols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8076" y="1078992"/>
          <a:ext cx="10903890.62" cy="1298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7315"/>
                <a:gridCol w="1817315"/>
                <a:gridCol w="1817315"/>
                <a:gridCol w="1817315"/>
                <a:gridCol w="1817315"/>
                <a:gridCol w="1817315"/>
              </a:tblGrid>
              <a:tr h="3246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Cohort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Hot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Cold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Interm.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</a:rPr>
                        <a:t>Discovery + CV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</a:rPr>
                        <a:t>TCGA-COAD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</a:rPr>
                        <a:t>294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</a:rPr>
                        <a:t>External test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</a:rPr>
                        <a:t>TCGA-READ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93B"/>
                          </a:solidFill>
                          <a:latin typeface="Arial"/>
                        </a:rPr>
                        <a:t>Total patients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93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93B"/>
                          </a:solidFill>
                          <a:latin typeface="Arial"/>
                        </a:rPr>
                        <a:t>403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93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93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93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8076" y="2468880"/>
            <a:ext cx="11126419" cy="4023360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1E293B"/>
                </a:solidFill>
                <a:latin typeface="Arial"/>
              </a:rPr>
              <a:t>Acquisition: NCI Genomic Data Commons REST API; expression files downloaded in batches with retries (single large tar streams often truncated on unstable links). Parsed STAR counts collapsed to gene-symbol × sample matrices; duplicate gene symbols and replicate aliquots were merged per our parser.</a:t>
            </a:r>
            <a:br/>
            <a:br/>
            <a:r>
              <a:rPr sz="1100" b="0">
                <a:solidFill>
                  <a:srgbClr val="1E293B"/>
                </a:solidFill>
                <a:latin typeface="Arial"/>
              </a:rPr>
              <a:t>Phenotype labels: single-sample GSEA (gseapy) plus ESTIMATE immune/stromal scores; within each cohort, samples ranked by immune score and split into upper, middle, and lower thirds (Hot / Intermediate / Cold). This yields roughly balanced classes for classification.</a:t>
            </a:r>
            <a:br/>
            <a:br/>
            <a:r>
              <a:rPr sz="1100" b="0">
                <a:solidFill>
                  <a:srgbClr val="1E293B"/>
                </a:solidFill>
                <a:latin typeface="Arial"/>
              </a:rPr>
              <a:t>Downstream statistics use 16,723 filtered genes on COAD for per-gene tests; machine learning uses the top 5,000 variance genes with univariate ANOVA feature selection (k=500) inside each sklearn Pipeline. External validation freezes the best COAD CV model, retrains on all COAD samples, scores READ after aligning gene order (missing genes in test filled with 0).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076" y="6528816"/>
            <a:ext cx="11126419" cy="292608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config.py: TCGA_PROJECTS = ['TCGA-COAD'], VALIDATION_COHORT = 'TCGA-READ'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8076" y="310896"/>
            <a:ext cx="11126419" cy="804672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Arial"/>
              </a:rPr>
              <a:t>End-to-end analytical workflow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00" b="0">
                <a:solidFill>
                  <a:srgbClr val="64748B"/>
                </a:solidFill>
                <a:latin typeface="Arial"/>
              </a:rPr>
              <a:t>Ten numbered scripts · one config · shared outputs/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076" y="1078992"/>
            <a:ext cx="11126419" cy="1874519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1E293B"/>
                </a:solidFill>
                <a:latin typeface="Arial"/>
              </a:rPr>
              <a:t>① 01_data_acquisition — GDC bulk + clinical.</a:t>
            </a:r>
            <a:br/>
            <a:r>
              <a:rPr sz="1100" b="0">
                <a:solidFill>
                  <a:srgbClr val="1E293B"/>
                </a:solidFill>
                <a:latin typeface="Arial"/>
              </a:rPr>
              <a:t>② 02_preprocessing — CPM, log₂, expression filters, top-variance subset, optional Shapiro/QQ.</a:t>
            </a:r>
            <a:br/>
            <a:r>
              <a:rPr sz="1100" b="0">
                <a:solidFill>
                  <a:srgbClr val="1E293B"/>
                </a:solidFill>
                <a:latin typeface="Arial"/>
              </a:rPr>
              <a:t>③ 03_immune_scoring — ssGSEA + ESTIMATE → labels + immune_scores tables.</a:t>
            </a:r>
            <a:br/>
            <a:r>
              <a:rPr sz="1100" b="0">
                <a:solidFill>
                  <a:srgbClr val="1E293B"/>
                </a:solidFill>
                <a:latin typeface="Arial"/>
              </a:rPr>
              <a:t>④ 04_dimensionality_reduction — PCA, ICA, MDS, t-SNE, UMAP plots.</a:t>
            </a:r>
            <a:br/>
            <a:r>
              <a:rPr sz="1100" b="0">
                <a:solidFill>
                  <a:srgbClr val="1E293B"/>
                </a:solidFill>
                <a:latin typeface="Arial"/>
              </a:rPr>
              <a:t>⑤ 05_clustering — k-means sweep, Ward dendrogram, DBSCAN; ARI/AMI vs labels.</a:t>
            </a:r>
            <a:br/>
            <a:r>
              <a:rPr sz="1100" b="0">
                <a:solidFill>
                  <a:srgbClr val="1E293B"/>
                </a:solidFill>
                <a:latin typeface="Arial"/>
              </a:rPr>
              <a:t>⑥ 06_hypothesis_testing — per-gene tests + BH/Bonferroni; volcano + heatmaps; χ² on clinical tables.</a:t>
            </a:r>
            <a:br/>
            <a:r>
              <a:rPr sz="1100" b="0">
                <a:solidFill>
                  <a:srgbClr val="1E293B"/>
                </a:solidFill>
                <a:latin typeface="Arial"/>
              </a:rPr>
              <a:t>⑦ 07_classification — six models, stratified 5-fold CV, confusion + ROC.</a:t>
            </a:r>
            <a:br/>
            <a:r>
              <a:rPr sz="1100" b="0">
                <a:solidFill>
                  <a:srgbClr val="1E293B"/>
                </a:solidFill>
                <a:latin typeface="Arial"/>
              </a:rPr>
              <a:t>⑧ 08_survival_analysis — KM, log-rank, penalised Cox, PLS vs survival time.</a:t>
            </a:r>
            <a:br/>
            <a:r>
              <a:rPr sz="1100" b="0">
                <a:solidFill>
                  <a:srgbClr val="1E293B"/>
                </a:solidFill>
                <a:latin typeface="Arial"/>
              </a:rPr>
              <a:t>⑨ 09_validation_external — train COAD → evaluate READ.</a:t>
            </a:r>
            <a:br/>
            <a:r>
              <a:rPr sz="1100" b="0">
                <a:solidFill>
                  <a:srgbClr val="1E293B"/>
                </a:solidFill>
                <a:latin typeface="Arial"/>
              </a:rPr>
              <a:t>⑩ 10_final_report_figures + report PDF / this PPTX generator.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8076" y="3026663"/>
            <a:ext cx="11126419" cy="3465577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7804" y="3118103"/>
            <a:ext cx="10906963" cy="3337561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1E293B"/>
                </a:solidFill>
                <a:latin typeface="Arial"/>
              </a:rPr>
              <a:t>Together, these steps exercise the course rubric: visual exploration, parametric and non-parametric inference with multiple-testing correction, unsupervised and supervised learning, regression-style survival modelling, and biological interpretation against known immune-gene programmes. Every figure in this deck is taken from outputs/figures/ produced by the pipeline (regenerate after re-running scripts).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" y="6528816"/>
            <a:ext cx="11126419" cy="292608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Repository layout: data/raw, data/processed, outputs/tables, outputs/figures, outputs/models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8076" y="310896"/>
            <a:ext cx="11126419" cy="804672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Arial"/>
              </a:rPr>
              <a:t>Methods (1/2)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00" b="0">
                <a:solidFill>
                  <a:srgbClr val="64748B"/>
                </a:solidFill>
                <a:latin typeface="Arial"/>
              </a:rPr>
              <a:t>Preprocessing, labelling, dimensionality reduction,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076" y="1078992"/>
            <a:ext cx="11126419" cy="5404104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1E293B"/>
                </a:solidFill>
                <a:latin typeface="Arial"/>
              </a:rPr>
              <a:t>Preprocessing (02_preprocessing.py): raw counts converted to counts-per-million (CPM); genes kept if CPM ≥ 1 in at least 20% of samples; then log₂(x + 1). For ML we retain the top 5,000 genes by row-wise variance to stabilise estimation in n≈300 samples.</a:t>
            </a:r>
            <a:br/>
            <a:br/>
            <a:r>
              <a:rPr sz="1100" b="0">
                <a:solidFill>
                  <a:srgbClr val="1E293B"/>
                </a:solidFill>
                <a:latin typeface="Arial"/>
              </a:rPr>
              <a:t>Immune scoring (03_immune_scoring.py): ssGSEA enrichment scores for curated immune gene sets combined with ESTIMATE immune and stromal scores. Labels assigned by within-cohort tertiles of the immune score (Hot = most inflamed third, Cold = least, Intermediate = middle).</a:t>
            </a:r>
            <a:br/>
            <a:br/>
            <a:r>
              <a:rPr sz="1100" b="0">
                <a:solidFill>
                  <a:srgbClr val="1E293B"/>
                </a:solidFill>
                <a:latin typeface="Arial"/>
              </a:rPr>
              <a:t>Dimensionality reduction (04): PCA/ICA/MDS on scaled expression; t-SNE and UMAP computed in 2D (with PCA-based initialisation where applicable for stability). Plots coloured by immune label.</a:t>
            </a:r>
            <a:br/>
            <a:br/>
            <a:r>
              <a:rPr sz="1100" b="0">
                <a:solidFill>
                  <a:srgbClr val="1E293B"/>
                </a:solidFill>
                <a:latin typeface="Arial"/>
              </a:rPr>
              <a:t>Clustering (05): k-means for k=2…6 with silhouette sweep; agglomerative clustering with Ward linkage and dendrogram; DBSCAN on PCA coordinates. Cluster assignments compared to ssGSEA labels using Adjusted Rand Index and Adjusted Mutual Information.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076" y="6528816"/>
            <a:ext cx="11126419" cy="292608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Random seed where applicable: 42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8076" y="310896"/>
            <a:ext cx="11126419" cy="804672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Arial"/>
              </a:rPr>
              <a:t>Methods (2/2)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00" b="0">
                <a:solidFill>
                  <a:srgbClr val="64748B"/>
                </a:solidFill>
                <a:latin typeface="Arial"/>
              </a:rPr>
              <a:t>Hypothesis tests, ML, survival, external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076" y="1078992"/>
            <a:ext cx="11126419" cy="5404104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1E293B"/>
                </a:solidFill>
                <a:latin typeface="Arial"/>
              </a:rPr>
              <a:t>Hypothesis testing (06): for each gene — Welch two-sample t (Hot vs Cold), one-way ANOVA across three groups, Kruskal–Wallis, Mann–Whitney U, and F-test of variance; p-values adjusted with Benjamini–Hochberg FDR and Bonferroni per family. High-confidence differential expression: BH q&lt;0.05 on t-test plus |log₂ fold-change|&gt;1. Clinical categorical fields tested with Pearson χ² vs label where applicable.</a:t>
            </a:r>
            <a:br/>
            <a:br/>
            <a:r>
              <a:rPr sz="1100" b="0">
                <a:solidFill>
                  <a:srgbClr val="1E293B"/>
                </a:solidFill>
                <a:latin typeface="Arial"/>
              </a:rPr>
              <a:t>Classification (07): six sklearn Pipelines with StandardScaler (except tree/boosting paths), SelectKBest(f_classif, k=500), and classifier; stratified 5-fold CV; metrics include accuracy, balanced accuracy, and macro-averaged F1. Best model by mean balanced accuracy used for external export.</a:t>
            </a:r>
            <a:br/>
            <a:br/>
            <a:r>
              <a:rPr sz="1100" b="0">
                <a:solidFill>
                  <a:srgbClr val="1E293B"/>
                </a:solidFill>
                <a:latin typeface="Arial"/>
              </a:rPr>
              <a:t>Survival (08): time from days_to_death or days_to_last_follow_up; event from vital_status. Kaplan–Meier by label, multivariate log-rank, L2-penalised Cox on ssGSEA cell-type scores, PLS regression of expression against survival time on training samples.</a:t>
            </a:r>
            <a:br/>
            <a:br/>
            <a:r>
              <a:rPr sz="1100" b="0">
                <a:solidFill>
                  <a:srgbClr val="1E293B"/>
                </a:solidFill>
                <a:latin typeface="Arial"/>
              </a:rPr>
              <a:t>External validation (09): re-fit winning pipeline on all COAD samples; predict on READ with identical feature ordering; report confusion matrix, accuracy, balanced accuracy, macro-F1.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076" y="6528816"/>
            <a:ext cx="11126419" cy="292608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Code annex: attach repository or zip of .py files per instructor instructions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8076" y="310896"/>
            <a:ext cx="11126419" cy="804672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Arial"/>
              </a:rPr>
              <a:t>Quality control &amp; distributions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00" b="0">
                <a:solidFill>
                  <a:srgbClr val="64748B"/>
                </a:solidFill>
                <a:latin typeface="Arial"/>
              </a:rPr>
              <a:t>Random genes · histogram + QQ after log-transform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076" y="1078992"/>
            <a:ext cx="11126419" cy="868680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1E293B"/>
                </a:solidFill>
                <a:latin typeface="Arial"/>
              </a:rPr>
              <a:t>Before relying on t-tests and ANOVA we inspect marginal distributions. Histograms should be unimodal and roughly bell-shaped; QQ-plots should follow the diagonal if normality holds approximately. We still report Kruskal–Wallis and Mann–Whitney as distribution-robust companions to parametric tests.</a:t>
            </a:r>
          </a:p>
        </p:txBody>
      </p:sp>
      <p:pic>
        <p:nvPicPr>
          <p:cNvPr id="5" name="Picture 4" descr="dist_check_TCGA-C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" y="2002536"/>
            <a:ext cx="11089843" cy="38715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8076" y="6528816"/>
            <a:ext cx="11126419" cy="292608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outputs/figures/preprocessing/dist_check_TCGA-COAD.png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8076" y="310896"/>
            <a:ext cx="11126419" cy="804672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Arial"/>
              </a:rPr>
              <a:t>Immune scores and phenotype labels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00" b="0">
                <a:solidFill>
                  <a:srgbClr val="64748B"/>
                </a:solidFill>
                <a:latin typeface="Arial"/>
              </a:rPr>
              <a:t>ESTIMATE immune score by tertile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26149" y="1078992"/>
            <a:ext cx="5508345" cy="960120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1E293B"/>
                </a:solidFill>
                <a:latin typeface="Arial"/>
              </a:rPr>
              <a:t>Tertile split enforces comparable class sizes and mirrors common practice when no external gold standard exists. Hot tumours concentrate at high ESTIMATE immune scores; Cold at low scores.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26149" y="2103120"/>
            <a:ext cx="5508345" cy="4379976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1E293B"/>
                </a:solidFill>
                <a:latin typeface="Arial"/>
              </a:rPr>
              <a:t>Interpretation caveat: labels are algorithm-defined (ssGSEA + ESTIMATE), not pathologist-verified IHC. All supervised metrics therefore measure agreement with this omics-based proxy. That is still scientifically useful: it tests whether linear and non-linear expression structure recovers immune ranking learned from gene-set enrichment.</a:t>
            </a:r>
            <a:br/>
            <a:br/>
            <a:r>
              <a:rPr sz="1100" b="0">
                <a:solidFill>
                  <a:srgbClr val="1E293B"/>
                </a:solidFill>
                <a:latin typeface="Arial"/>
              </a:rPr>
              <a:t>Outputs drive every later step: merged with expression for DE, fed into PCA colours, used as clustering reference for ARI/AMI, and used as y in classification.</a:t>
            </a:r>
          </a:p>
        </p:txBody>
      </p:sp>
      <p:pic>
        <p:nvPicPr>
          <p:cNvPr id="6" name="Picture 5" descr="TCGA-COAD_ESTIMATE_Immune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" y="1078992"/>
            <a:ext cx="5471769" cy="33287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6" y="6528816"/>
            <a:ext cx="11126419" cy="292608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outputs/tables/labels_TCGA-COAD.csv · immune_scores_TCGA-COAD.csv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8076" y="310896"/>
            <a:ext cx="11126419" cy="804672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Arial"/>
              </a:rPr>
              <a:t>Low-dimensional views (COAD)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00" b="0">
                <a:solidFill>
                  <a:srgbClr val="64748B"/>
                </a:solidFill>
                <a:latin typeface="Arial"/>
              </a:rPr>
              <a:t>PC1 explains 32.5% variance; PC2 9.4%; combined 42.0%</a:t>
            </a:r>
          </a:p>
        </p:txBody>
      </p:sp>
      <p:pic>
        <p:nvPicPr>
          <p:cNvPr id="4" name="Picture 3" descr="TCGA-COAD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" y="1078992"/>
            <a:ext cx="5490057" cy="4485133"/>
          </a:xfrm>
          <a:prstGeom prst="rect">
            <a:avLst/>
          </a:prstGeom>
        </p:spPr>
      </p:pic>
      <p:pic>
        <p:nvPicPr>
          <p:cNvPr id="5" name="Picture 4" descr="TCGA-COAD_u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149" y="1078992"/>
            <a:ext cx="5490057" cy="46602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8076" y="6035040"/>
            <a:ext cx="11126419" cy="438912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64748B"/>
                </a:solidFill>
                <a:latin typeface="Arial"/>
              </a:rPr>
              <a:t>Left: linear PCA — Hot (red) and Cold (blue) separate along PC1, Intermediate (grey) bridges them. Right: non-linear UMAP on PCA-informed embedding — tighter islands, same colour logic. ICA, MDS (metric/non-metric), and t-SNE figures are in the repository for the same cohort.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" y="6528816"/>
            <a:ext cx="11126419" cy="292608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outputs/figures/dim_reduction/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8076" y="310896"/>
            <a:ext cx="11126419" cy="804672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Arial"/>
              </a:rPr>
              <a:t>Unsupervised clustering vs ssGSEA labels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00" b="0">
                <a:solidFill>
                  <a:srgbClr val="64748B"/>
                </a:solidFill>
                <a:latin typeface="Arial"/>
              </a:rPr>
              <a:t>k-means k=3: ARI 0.114, AMI 0.119, silhouette 0.137</a:t>
            </a:r>
          </a:p>
        </p:txBody>
      </p:sp>
      <p:pic>
        <p:nvPicPr>
          <p:cNvPr id="4" name="Picture 3" descr="TCGA-COAD_silhouette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" y="1078992"/>
            <a:ext cx="5916826" cy="28270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1206" y="1078992"/>
            <a:ext cx="5063288" cy="5404104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1E293B"/>
                </a:solidFill>
                <a:latin typeface="Arial"/>
              </a:rPr>
              <a:t>Silhouette scores peak in the k=2–4 range; we report ARI/AMI against labels for several algorithms and cluster counts in clustering_metrics_TCGA-COAD.csv.</a:t>
            </a:r>
            <a:br/>
            <a:br/>
            <a:r>
              <a:rPr sz="1100" b="0">
                <a:solidFill>
                  <a:srgbClr val="1E293B"/>
                </a:solidFill>
                <a:latin typeface="Arial"/>
              </a:rPr>
              <a:t>Moderate ARI (~0.11) means unsupervised partitions only partially reproduce tertile labels. That is expected: tertiles impose crisp boundaries on a continuous immune axis; k-means also forces equal variance spherical clusters in feature space after PCA.</a:t>
            </a:r>
            <a:br/>
            <a:br/>
            <a:r>
              <a:rPr sz="1100" b="0">
                <a:solidFill>
                  <a:srgbClr val="1E293B"/>
                </a:solidFill>
                <a:latin typeface="Arial"/>
              </a:rPr>
              <a:t>Hierarchical clustering provides a dendrogram for visual inspection of sample–sample similarity; DBSCAN serves as a density-based contrast that does not fix k. Together they satisfy the course clustering requirement beyond a single k-means 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076" y="6528816"/>
            <a:ext cx="11126419" cy="292608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outputs/tables/clustering_metrics_TCGA-COAD.csv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8076" y="310896"/>
            <a:ext cx="11126419" cy="804672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Arial"/>
              </a:rPr>
              <a:t>Differential expression &amp; FDR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00" b="0">
                <a:solidFill>
                  <a:srgbClr val="64748B"/>
                </a:solidFill>
                <a:latin typeface="Arial"/>
              </a:rPr>
              <a:t>Per-gene testing on TCGA-COAD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076" y="1078992"/>
            <a:ext cx="11126419" cy="1261872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1E293B"/>
                </a:solidFill>
                <a:latin typeface="Arial"/>
              </a:rPr>
              <a:t>Genes tested: 16,723. Significant at BH FDR q&lt;0.05 — Welch t: 8,198; one-way ANOVA: 10,369; Kruskal–Wallis: 10,280; Mann–Whitney U: 8,362. Stringent DE list (BH on t-test plus |log₂FC|&gt;1): 2,269 genes.</a:t>
            </a:r>
            <a:br/>
            <a:br/>
            <a:r>
              <a:rPr sz="1100" b="0">
                <a:solidFill>
                  <a:srgbClr val="1E293B"/>
                </a:solidFill>
                <a:latin typeface="Arial"/>
              </a:rPr>
              <a:t>Volcano: x-axis log₂ fold-change (Hot − Cold); y-axis −log₁₀(BH q). Red points pass both magnitude and FDR thresholds. Grey cloud = not significant after correction.</a:t>
            </a:r>
          </a:p>
        </p:txBody>
      </p:sp>
      <p:pic>
        <p:nvPicPr>
          <p:cNvPr id="5" name="Picture 4" descr="volcano_TCGA-C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" y="2395728"/>
            <a:ext cx="5550580" cy="40965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8076" y="6528816"/>
            <a:ext cx="11126419" cy="292608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outputs/tables/dge_TCGA-COAD.csv · dge_sig_TCGA-COAD.csv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8076" y="310896"/>
            <a:ext cx="11126419" cy="804672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Arial"/>
              </a:rPr>
              <a:t>Top ranked DE genes (heatmap)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00" b="0">
                <a:solidFill>
                  <a:srgbClr val="64748B"/>
                </a:solidFill>
                <a:latin typeface="Arial"/>
              </a:rPr>
              <a:t>Forty genes with strongest evidence · z-scored across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076" y="1078992"/>
            <a:ext cx="11126419" cy="658368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64748B"/>
                </a:solidFill>
                <a:latin typeface="Arial"/>
              </a:rPr>
              <a:t>Columns ordered by immune class; colour = row z-score. Sharp red/blue blocks indicate genes that track Hot vs Cold consistently across patients — candidate biomarkers and pathway-level hypotheses.</a:t>
            </a:r>
          </a:p>
        </p:txBody>
      </p:sp>
      <p:pic>
        <p:nvPicPr>
          <p:cNvPr id="5" name="Picture 4" descr="heatmap_top40_TCGA-C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" y="1792224"/>
            <a:ext cx="6742959" cy="46542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8076" y="6528816"/>
            <a:ext cx="11126419" cy="292608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outputs/figures/hypothesis/heatmap_top40_TCGA-COAD.png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8076" y="310896"/>
            <a:ext cx="11126419" cy="804672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Arial"/>
              </a:rPr>
              <a:t>Biological interpretation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00" b="0">
                <a:solidFill>
                  <a:srgbClr val="64748B"/>
                </a:solidFill>
                <a:latin typeface="Arial"/>
              </a:rPr>
              <a:t>Concordance with published immune-infiltration biology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076" y="1078992"/>
            <a:ext cx="11126419" cy="5404104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1E293B"/>
                </a:solidFill>
                <a:latin typeface="Arial"/>
              </a:rPr>
              <a:t>Among the strongest Hot-associated genes after multiple-testing correction and effect-size filtering are examples such as: HLA-DPB1, HLA-DRA, CD48, PLA2G2D, HLA-DMB, HLA-DPA1, HLA-DQA1, C1QB, HLA-DOA, SLAMF7, …</a:t>
            </a:r>
            <a:br/>
            <a:br/>
            <a:r>
              <a:rPr sz="1100" b="0">
                <a:solidFill>
                  <a:srgbClr val="1E293B"/>
                </a:solidFill>
                <a:latin typeface="Arial"/>
              </a:rPr>
              <a:t>These include MHC class II antigen presentation (HLA-DRA, HLA-DPB1, …), complement cascade (C1QB), lymphocyte signalling (CD48, SLAMF7), and cytotoxic / tissue-resident programmes (GZMK, CXCL13). That pattern matches known biology of T-cell–inflamed tumours and supports the face validity of our ssGSEA-based labels — not random gene noise.</a:t>
            </a:r>
            <a:br/>
            <a:br/>
            <a:r>
              <a:rPr sz="1100" b="0">
                <a:solidFill>
                  <a:srgbClr val="1E293B"/>
                </a:solidFill>
                <a:latin typeface="Arial"/>
              </a:rPr>
              <a:t>We did not run a separate Fisher pathway table in the final deck, but ssGSEA itself is gene-set–centric; optional extension: hypergeometric over-representation on MSigDB Hallmarks for the DE gene list.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076" y="6528816"/>
            <a:ext cx="11126419" cy="292608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Compare e.g. Bindea et al., Immunity 2013; Charoentong pan-cancer immune clusters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8076" y="310896"/>
            <a:ext cx="11126419" cy="804672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Arial"/>
              </a:rPr>
              <a:t>Supervised classification (discovery cohort)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00" b="0">
                <a:solidFill>
                  <a:srgbClr val="64748B"/>
                </a:solidFill>
                <a:latin typeface="Arial"/>
              </a:rPr>
              <a:t>294 COAD samples · stratified 5-fold CV · six algorithms</a:t>
            </a:r>
          </a:p>
        </p:txBody>
      </p:sp>
      <p:pic>
        <p:nvPicPr>
          <p:cNvPr id="4" name="Picture 3" descr="TCGA-COAD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" y="1078992"/>
            <a:ext cx="5698869" cy="31038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44105" y="1078992"/>
            <a:ext cx="5290389" cy="5404104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1E293B"/>
                </a:solidFill>
                <a:latin typeface="Arial"/>
              </a:rPr>
              <a:t>Leader by mean balanced accuracy: RandomForest (balanced acc 0.785, accuracy 0.786, macro-F1 0.786).</a:t>
            </a:r>
            <a:br/>
            <a:br/>
            <a:r>
              <a:rPr sz="1000" b="0">
                <a:solidFill>
                  <a:srgbClr val="1E293B"/>
                </a:solidFill>
                <a:latin typeface="Arial"/>
              </a:rPr>
              <a:t>Why balanced accuracy: class frequencies are similar but not identical; balanced accuracy averages recall across classes and is less optimistic than raw accuracy on mildly imbalanced problems.</a:t>
            </a:r>
            <a:br/>
            <a:br/>
            <a:r>
              <a:rPr sz="1000" b="0">
                <a:solidFill>
                  <a:srgbClr val="1E293B"/>
                </a:solidFill>
                <a:latin typeface="Arial"/>
              </a:rPr>
              <a:t>Full CV summary (mean across folds):</a:t>
            </a:r>
            <a:br/>
            <a:r>
              <a:rPr sz="1000" b="0">
                <a:solidFill>
                  <a:srgbClr val="1E293B"/>
                </a:solidFill>
                <a:latin typeface="Arial"/>
              </a:rPr>
              <a:t>Model          Bal.Acc.  Acc.    Macro-F1</a:t>
            </a:r>
            <a:br/>
            <a:r>
              <a:rPr sz="1000" b="0">
                <a:solidFill>
                  <a:srgbClr val="1E293B"/>
                </a:solidFill>
                <a:latin typeface="Arial"/>
              </a:rPr>
              <a:t>──────────────────────────────────────────</a:t>
            </a:r>
            <a:br/>
            <a:r>
              <a:rPr sz="1000" b="0">
                <a:solidFill>
                  <a:srgbClr val="1E293B"/>
                </a:solidFill>
                <a:latin typeface="Arial"/>
              </a:rPr>
              <a:t>RandomForest   0.785     0.786   0.786</a:t>
            </a:r>
            <a:br/>
            <a:r>
              <a:rPr sz="1000" b="0">
                <a:solidFill>
                  <a:srgbClr val="1E293B"/>
                </a:solidFill>
                <a:latin typeface="Arial"/>
              </a:rPr>
              <a:t>SVM-linear     0.785     0.786   0.784</a:t>
            </a:r>
            <a:br/>
            <a:r>
              <a:rPr sz="1000" b="0">
                <a:solidFill>
                  <a:srgbClr val="1E293B"/>
                </a:solidFill>
                <a:latin typeface="Arial"/>
              </a:rPr>
              <a:t>Logistic       0.752     0.752   0.748</a:t>
            </a:r>
            <a:br/>
            <a:r>
              <a:rPr sz="1000" b="0">
                <a:solidFill>
                  <a:srgbClr val="1E293B"/>
                </a:solidFill>
                <a:latin typeface="Arial"/>
              </a:rPr>
              <a:t>SVM-RBF        0.735     0.735   0.736</a:t>
            </a:r>
            <a:br/>
            <a:r>
              <a:rPr sz="1000" b="0">
                <a:solidFill>
                  <a:srgbClr val="1E293B"/>
                </a:solidFill>
                <a:latin typeface="Arial"/>
              </a:rPr>
              <a:t>XGBoost        0.704     0.704   0.699</a:t>
            </a:r>
            <a:br/>
            <a:r>
              <a:rPr sz="1000" b="0">
                <a:solidFill>
                  <a:srgbClr val="1E293B"/>
                </a:solidFill>
                <a:latin typeface="Arial"/>
              </a:rPr>
              <a:t>kNN-5          0.648     0.649   0.645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076" y="6528816"/>
            <a:ext cx="11126419" cy="292608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outputs/tables/cv_results_TCGA-COAD.csv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8076" y="310896"/>
            <a:ext cx="11126419" cy="804672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Arial"/>
              </a:rPr>
              <a:t>Error structure &amp; calibration (Random Forest)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00" b="0">
                <a:solidFill>
                  <a:srgbClr val="64748B"/>
                </a:solidFill>
                <a:latin typeface="Arial"/>
              </a:rPr>
              <a:t>Same model family as external validation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076" y="6144768"/>
            <a:ext cx="11126419" cy="347472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64748B"/>
                </a:solidFill>
                <a:latin typeface="Arial"/>
              </a:rPr>
              <a:t>Left: cross-validated confusion matrix — most mass on the diagonal; off-diagonal mass often involves Intermediate vs Hot/Cold, consistent with intermediate biology. Right: one-vs-rest ROC curves per class; high AUC for Cold/Hot indicates separability; Intermediate is intrinsically harder.</a:t>
            </a:r>
          </a:p>
        </p:txBody>
      </p:sp>
      <p:pic>
        <p:nvPicPr>
          <p:cNvPr id="5" name="Picture 4" descr="TCGA-COAD_RandomForest_confm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" y="1078992"/>
            <a:ext cx="5499201" cy="3354512"/>
          </a:xfrm>
          <a:prstGeom prst="rect">
            <a:avLst/>
          </a:prstGeom>
        </p:spPr>
      </p:pic>
      <p:pic>
        <p:nvPicPr>
          <p:cNvPr id="6" name="Picture 5" descr="TCGA-COAD_RandomForest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005" y="1078992"/>
            <a:ext cx="5499201" cy="41407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6" y="6528816"/>
            <a:ext cx="11126419" cy="292608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outputs/figures/classification/TCGA-COAD_RandomForest_*.png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8076" y="310896"/>
            <a:ext cx="11126419" cy="804672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Arial"/>
              </a:rPr>
              <a:t>Independent cohort validation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00" b="0">
                <a:solidFill>
                  <a:srgbClr val="64748B"/>
                </a:solidFill>
                <a:latin typeface="Arial"/>
              </a:rPr>
              <a:t>Train on all COAD · evaluate on READ (n = 109) · model = RandomForest</a:t>
            </a:r>
          </a:p>
        </p:txBody>
      </p:sp>
      <p:pic>
        <p:nvPicPr>
          <p:cNvPr id="4" name="Picture 3" descr="validation_confmat_TCGA-R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" y="1188720"/>
            <a:ext cx="5253813" cy="39136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99049" y="1078992"/>
            <a:ext cx="5735445" cy="5404104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1E293B"/>
                </a:solidFill>
                <a:latin typeface="Arial"/>
              </a:rPr>
              <a:t>READ patients were never used during model selection or cross-validation; only COAD folds informed the choice of Random Forest. READ expression was subset to the training gene list; any gene absent in READ was imputed as zero expression after alignment.</a:t>
            </a:r>
            <a:br/>
            <a:br/>
            <a:r>
              <a:rPr sz="1100" b="0">
                <a:solidFill>
                  <a:srgbClr val="1E293B"/>
                </a:solidFill>
                <a:latin typeface="Arial"/>
              </a:rPr>
              <a:t>Held-out metrics:</a:t>
            </a:r>
            <a:br/>
            <a:r>
              <a:rPr sz="1100" b="0">
                <a:solidFill>
                  <a:srgbClr val="1E293B"/>
                </a:solidFill>
                <a:latin typeface="Arial"/>
              </a:rPr>
              <a:t>  • Accuracy           0.743</a:t>
            </a:r>
            <a:br/>
            <a:r>
              <a:rPr sz="1100" b="0">
                <a:solidFill>
                  <a:srgbClr val="1E293B"/>
                </a:solidFill>
                <a:latin typeface="Arial"/>
              </a:rPr>
              <a:t>  • Balanced accuracy  0.744</a:t>
            </a:r>
            <a:br/>
            <a:r>
              <a:rPr sz="1100" b="0">
                <a:solidFill>
                  <a:srgbClr val="1E293B"/>
                </a:solidFill>
                <a:latin typeface="Arial"/>
              </a:rPr>
              <a:t>  • Macro F1           0.742</a:t>
            </a:r>
            <a:br/>
            <a:br/>
            <a:r>
              <a:rPr sz="1100" b="0">
                <a:solidFill>
                  <a:srgbClr val="1E293B"/>
                </a:solidFill>
                <a:latin typeface="Arial"/>
              </a:rPr>
              <a:t>Compared to ~33% expected accuracy for random guessing among three classes, the ~0.74 balanced accuracy indicates genuine transfer of signal across cohorts processed under the same GDC pipeline — different patients and tissue sites (colon vs rectum) but comparable assay technology.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076" y="6528816"/>
            <a:ext cx="11126419" cy="292608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outputs/tables/external_validation_summary_TCGA-READ.csv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8076" y="310896"/>
            <a:ext cx="11126419" cy="804672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Arial"/>
              </a:rPr>
              <a:t>Survival by immune tertile (COAD)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00" b="0">
                <a:solidFill>
                  <a:srgbClr val="64748B"/>
                </a:solidFill>
                <a:latin typeface="Arial"/>
              </a:rPr>
              <a:t>Multivariate log-rank p = 0.081 (χ² statistic = 5.02)</a:t>
            </a:r>
          </a:p>
        </p:txBody>
      </p:sp>
      <p:pic>
        <p:nvPicPr>
          <p:cNvPr id="4" name="Picture 3" descr="TCGA-COAD_kaplan_me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" y="1078992"/>
            <a:ext cx="5698869" cy="3461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44105" y="1078992"/>
            <a:ext cx="5290389" cy="5404104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1E293B"/>
                </a:solidFill>
                <a:latin typeface="Arial"/>
              </a:rPr>
              <a:t>Kaplan–Meier step functions with shaded 95% confidence bands. Visual separation between Cold vs Hot curves is modest at early times and overlaps at long follow-up because of censoring and competing risks.</a:t>
            </a:r>
            <a:br/>
            <a:br/>
            <a:r>
              <a:rPr sz="1100" b="0">
                <a:solidFill>
                  <a:srgbClr val="1E293B"/>
                </a:solidFill>
                <a:latin typeface="Arial"/>
              </a:rPr>
              <a:t>Formal log-rank test across all three labels: p = 0.081 — not significant at α = 0.05. We therefore describe survival differences as hypothesis-generating rather than definitive proof in this cohort.</a:t>
            </a:r>
            <a:br/>
            <a:br/>
            <a:r>
              <a:rPr sz="1100" b="0">
                <a:solidFill>
                  <a:srgbClr val="1E293B"/>
                </a:solidFill>
                <a:latin typeface="Arial"/>
              </a:rPr>
              <a:t>We additionally fit penalised Cox regression on ssGSEA cell-type scores and PLS regression from high-dimensional expression to survival time (see outputs/tables/cox_TCGA-COAD.csv and pls_TCGA-COAD.csv plus survival figures).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076" y="6528816"/>
            <a:ext cx="11126419" cy="292608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outputs/tables/logrank_TCGA-COAD.csv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8076" y="310896"/>
            <a:ext cx="11126419" cy="804672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Arial"/>
              </a:rPr>
              <a:t>Discussion, limitations, future work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00" b="0">
                <a:solidFill>
                  <a:srgbClr val="64748B"/>
                </a:solidFill>
                <a:latin typeface="Arial"/>
              </a:rPr>
              <a:t>Critical appraisal — expected in written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076" y="1078992"/>
            <a:ext cx="11126419" cy="5404104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1E293B"/>
                </a:solidFill>
                <a:latin typeface="Arial"/>
              </a:rPr>
              <a:t>Strengths: (1) large public RNA-seq cohorts with harmonised preprocessing; (2) many complementary tests (parametric + non-parametric + two FDR strategies); (3) transparent immune labelling code; (4) six classifiers with nested feature selection; (5) true external generalisation check on READ; (6) biologically interpretable DE direction.</a:t>
            </a:r>
            <a:br/>
            <a:br/>
            <a:r>
              <a:rPr sz="1000" b="0">
                <a:solidFill>
                  <a:srgbClr val="1E293B"/>
                </a:solidFill>
                <a:latin typeface="Arial"/>
              </a:rPr>
              <a:t>Limitations: (1) ssGSEA tertiles are a computational proxy, not gold-standard pathology; (2) COAD and READ share sequencing platform — we do not demonstrate cross-platform robustness to microarray here; (3) survival is under-powered for strong significance; (4) clinical covariates (stage, MSI) could be added as covariates or stratification in future work; (5) XGBoost underperformed linear models here — likely because ANOVA pre-screening already removes most non-linear signal from the feature matrix.</a:t>
            </a:r>
            <a:br/>
            <a:br/>
            <a:r>
              <a:rPr sz="1000" b="0">
                <a:solidFill>
                  <a:srgbClr val="1E293B"/>
                </a:solidFill>
                <a:latin typeface="Arial"/>
              </a:rPr>
              <a:t>Future directions: integrate MSI status and stage into multivariate models; validate on GEO or single-cell  atlases; calibrate predicted probabilities for clinical decision support; explore pathway-level Fisher tests explicitly as in the course slide deck.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076" y="6528816"/>
            <a:ext cx="11126419" cy="292608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Written report: ≤8 pages Arial 12 (per instructor); this PPTX is complementary visual aid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8076" y="310896"/>
            <a:ext cx="11126419" cy="804672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Arial"/>
              </a:rPr>
              <a:t>Take-home messages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00" b="0">
                <a:solidFill>
                  <a:srgbClr val="64748B"/>
                </a:solidFill>
                <a:latin typeface="Arial"/>
              </a:rPr>
              <a:t>What you should remember from this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076" y="1078992"/>
            <a:ext cx="11126419" cy="5404104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1E293B"/>
                </a:solidFill>
                <a:latin typeface="Arial"/>
              </a:rPr>
              <a:t>▸ We built a reproducible omics pipeline on 403 TCGA colorectal samples with explicit train (COAD) vs test (READ) separation.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1E293B"/>
                </a:solidFill>
                <a:latin typeface="Arial"/>
              </a:rPr>
              <a:t>▸ Genome-wide testing finds 8,198 BH-significant genes by Welch t and 2,269 high-confidence DE genes with large |log₂FC| — enriched for antigen presentation and cytotoxic programmes.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1E293B"/>
                </a:solidFill>
                <a:latin typeface="Arial"/>
              </a:rPr>
              <a:t>▸ Low-dimensional plots (PCA/UMAP) and clustering (ARI 0.114 for best k-means vs labels) show partial but meaningful alignment with immune tertiles.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1E293B"/>
                </a:solidFill>
                <a:latin typeface="Arial"/>
              </a:rPr>
              <a:t>▸ Six classifiers; best discovery performance ≈0.79 balanced accuracy under 5-fold CV (RandomForest).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1E293B"/>
                </a:solidFill>
                <a:latin typeface="Arial"/>
              </a:rPr>
              <a:t>▸ External validation retains ≈0.74 balanced accuracy on 109 READ patients — evidence against pure overfitting.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1E293B"/>
                </a:solidFill>
                <a:latin typeface="Arial"/>
              </a:rPr>
              <a:t>▸ Survival trend is directionally sensible but not statistically significant at α=0.05 (log-rank p=0.081).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1E293B"/>
                </a:solidFill>
                <a:latin typeface="Arial"/>
              </a:rPr>
              <a:t>▸ Everything is scripted in Python with version-pinned dependencies; figures regenerate from outputs/.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076" y="6528816"/>
            <a:ext cx="11126419" cy="292608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https://github.com/Aryan7865/cold-hot-tumour-classification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8076" y="2331720"/>
            <a:ext cx="11126419" cy="2011680"/>
          </a:xfrm>
          <a:prstGeom prst="rect">
            <a:avLst/>
          </a:prstGeom>
          <a:noFill/>
        </p:spPr>
        <p:txBody>
          <a:bodyPr wrap="square" lIns="38100" rIns="38100" tIns="25400" bIns="25400">
            <a:no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Thank you</a:t>
            </a:r>
          </a:p>
          <a:p>
            <a:pPr algn="ctr">
              <a:spcBef>
                <a:spcPts val="1600"/>
              </a:spcBef>
            </a:pPr>
            <a:r>
              <a:rPr sz="1400" b="0">
                <a:solidFill>
                  <a:srgbClr val="94A3B8"/>
                </a:solidFill>
                <a:latin typeface="Arial"/>
              </a:rPr>
              <a:t>We welcome questions on methods, code, or biological interpretation.</a:t>
            </a:r>
          </a:p>
          <a:p>
            <a:pPr algn="ctr">
              <a:spcBef>
                <a:spcPts val="2200"/>
              </a:spcBef>
            </a:pPr>
            <a:r>
              <a:rPr sz="2000" b="0">
                <a:solidFill>
                  <a:srgbClr val="06B6D4"/>
                </a:solidFill>
                <a:latin typeface="Arial"/>
              </a:rPr>
              <a:t>Questions?</a:t>
            </a:r>
          </a:p>
          <a:p>
            <a:pPr algn="ctr">
              <a:spcBef>
                <a:spcPts val="2800"/>
              </a:spcBef>
            </a:pPr>
            <a:r>
              <a:rPr sz="1100" b="0">
                <a:solidFill>
                  <a:srgbClr val="94A3B8"/>
                </a:solidFill>
                <a:latin typeface="Arial"/>
              </a:rPr>
              <a:t>https://github.com/Aryan7865/cold-hot-tumour-classification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022695" y="1874519"/>
            <a:ext cx="146304" cy="28803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