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691640"/>
            <a:ext cx="109115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Cold vs Hot tumour immune phenotypes</a:t>
            </a:r>
          </a:p>
          <a:p>
            <a:pPr>
              <a:spcBef>
                <a:spcPts val="1400"/>
              </a:spcBef>
            </a:pPr>
            <a:r>
              <a:rPr sz="1700" b="0">
                <a:solidFill>
                  <a:srgbClr val="94A3B8"/>
                </a:solidFill>
                <a:latin typeface="Arial"/>
              </a:rPr>
              <a:t>Bulk RNA-seq · TCGA colorectal cancer · Multi-statistics + ML + survival</a:t>
            </a:r>
          </a:p>
          <a:p>
            <a:pPr>
              <a:spcBef>
                <a:spcPts val="2800"/>
              </a:spcBef>
            </a:pPr>
            <a:r>
              <a:rPr sz="1400" b="0">
                <a:solidFill>
                  <a:srgbClr val="06B6D4"/>
                </a:solidFill>
                <a:latin typeface="Arial"/>
              </a:rPr>
              <a:t>BT3041 — Analysis and Interpretation of Biological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331720"/>
            <a:ext cx="164592" cy="214884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858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rial"/>
              </a:rPr>
              <a:t>IIT Madras · Department of Biotechnology · Term project 2025–26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0029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Arial"/>
              </a:rPr>
              <a:t>Why this problem matters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64748B"/>
                </a:solidFill>
                <a:latin typeface="Arial"/>
              </a:rPr>
              <a:t>Clinical + computational angle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1048695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E293B"/>
                </a:solidFill>
                <a:latin typeface="Arial"/>
              </a:rPr>
              <a:t>Immune checkpoint therapy helps some colorectal cancer patients enormously — but only when the tumour microenvironment is already “hot” (lymphocyte-rich). Cold, immune-excluded tumours rarely respond.</a:t>
            </a:r>
            <a:br/>
            <a:br/>
            <a:r>
              <a:rPr sz="1500" b="0">
                <a:solidFill>
                  <a:srgbClr val="1E293B"/>
                </a:solidFill>
                <a:latin typeface="Arial"/>
              </a:rPr>
              <a:t>Hospitals increasingly have bulk RNA-seq from tumour samples. If we can infer hot vs cold vs intermediate phenotypes from expression alone, we connect routine omics data to immunotherapy stratification — exactly the kind of large-scale omics question BT3041 targets.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858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Public data · Reproducible code · https://github.com/Aryan7865/cold-hot-tumour-classification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0029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Arial"/>
              </a:rPr>
              <a:t>Research questions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64748B"/>
                </a:solidFill>
                <a:latin typeface="Arial"/>
              </a:rPr>
              <a:t>Aligned with course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1048695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Do Hot, Cold, and Intermediate tumours differ genome-wide after rigorous multiple-testing correction?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Do PCA / UMAP / clustering reveal structure that aligns with immune-derived labels?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Which genes and pathways most strongly separate Hot from Cold?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Can we train classifiers (SVM, Random Forest, XGBoost, …) to predict phenotype from expression?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Does the best model generalise to an independent TCGA cohort never seen in training?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Is overall survival associated with immune phenotype (Kaplan–Meier, log-rank, Cox)?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858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Hypothesis-driven analysis + classification + validation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0029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Arial"/>
              </a:rPr>
              <a:t>Dataset &amp; study design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64748B"/>
                </a:solidFill>
                <a:latin typeface="Arial"/>
              </a:rPr>
              <a:t>TCGA RNA-seq · Same pipeline · Two cohorts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34440"/>
          <a:ext cx="107899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1798320"/>
                <a:gridCol w="1798320"/>
                <a:gridCol w="1798320"/>
                <a:gridCol w="1798320"/>
                <a:gridCol w="1798320"/>
              </a:tblGrid>
              <a:tr h="35433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Cohort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Samples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Hot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Cold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Interm.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Arial"/>
                        </a:rPr>
                        <a:t>Discovery / CV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Arial"/>
                        </a:rPr>
                        <a:t>TCGA-COAD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Arial"/>
                        </a:rPr>
                        <a:t>External validation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Arial"/>
                        </a:rPr>
                        <a:t>TCGA-READ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293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93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93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93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93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93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293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2880360"/>
            <a:ext cx="11185855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293B"/>
                </a:solidFill>
                <a:latin typeface="Arial"/>
              </a:rPr>
              <a:t>Labels: ssGSEA + ESTIMATE immune scores, tertile split per cohort (top third = Hot, bottom = Cold, middle = Intermediate).</a:t>
            </a:r>
            <a:br/>
            <a:br/>
            <a:r>
              <a:rPr sz="1400" b="0">
                <a:solidFill>
                  <a:srgbClr val="1E293B"/>
                </a:solidFill>
                <a:latin typeface="Arial"/>
              </a:rPr>
              <a:t>Per-gene statistics: 16,723 genes tested on COAD after filtering.</a:t>
            </a:r>
            <a:br/>
            <a:r>
              <a:rPr sz="1400" b="0">
                <a:solidFill>
                  <a:srgbClr val="1E293B"/>
                </a:solidFill>
                <a:latin typeface="Arial"/>
              </a:rPr>
              <a:t>Machine learning: top 5,000 variance genes; SelectKBest (k=500) inside each pipeline; stratified 5-fold CV on COAD only.</a:t>
            </a:r>
            <a:br/>
            <a:br/>
            <a:r>
              <a:rPr sz="1400" b="0">
                <a:solidFill>
                  <a:srgbClr val="1E293B"/>
                </a:solidFill>
                <a:latin typeface="Arial"/>
              </a:rPr>
              <a:t>External test: best CV model trained on full COAD, evaluated on READ with gene alignment + zero imputation.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858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GDC acquisition with batched downloads + retries (resilient to dropped connections)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0029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Arial"/>
              </a:rPr>
              <a:t>Analytical workflow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64748B"/>
                </a:solidFill>
                <a:latin typeface="Arial"/>
              </a:rPr>
              <a:t>From raw counts to validation — one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1094415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293B"/>
                </a:solidFill>
                <a:latin typeface="Arial"/>
              </a:rPr>
              <a:t>① Acquire &amp; parse TCGA STAR counts  →  ② Filter / log-transform / harmonise</a:t>
            </a:r>
            <a:br/>
            <a:r>
              <a:rPr sz="1400" b="0">
                <a:solidFill>
                  <a:srgbClr val="1E293B"/>
                </a:solidFill>
                <a:latin typeface="Arial"/>
              </a:rPr>
              <a:t>③ ssGSEA + ESTIMATE → Hot | Cold | Intermediate  →  ④ PCA · ICA · MDS · t-SNE · UMAP</a:t>
            </a:r>
            <a:br/>
            <a:r>
              <a:rPr sz="1400" b="0">
                <a:solidFill>
                  <a:srgbClr val="1E293B"/>
                </a:solidFill>
                <a:latin typeface="Arial"/>
              </a:rPr>
              <a:t>⑤ k-means · hierarchical · DBSCAN  →  ⑥ t · ANOVA · Kruskal–Wallis · Mann–Whitney · F-test · χ²</a:t>
            </a:r>
            <a:br/>
            <a:r>
              <a:rPr sz="1400" b="0">
                <a:solidFill>
                  <a:srgbClr val="1E293B"/>
                </a:solidFill>
                <a:latin typeface="Arial"/>
              </a:rPr>
              <a:t>        BH + Bonferroni correction  →  ⑦ Six classifiers + 5-fold CV</a:t>
            </a:r>
            <a:br/>
            <a:r>
              <a:rPr sz="1400" b="0">
                <a:solidFill>
                  <a:srgbClr val="1E293B"/>
                </a:solidFill>
                <a:latin typeface="Arial"/>
              </a:rPr>
              <a:t>⑧ KM · log-rank · Cox · PLS  →  ⑨ Train COAD → test READ  →  ⑩ Report figures + this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3520440"/>
            <a:ext cx="11076127" cy="28803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728655" cy="2606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293B"/>
                </a:solidFill>
                <a:latin typeface="Arial"/>
              </a:rPr>
              <a:t>Course coverage in one slide: visual stats + dimensionality reduction + clustering + hypothesis testing + FDR + supervised ML + regression-style survival modelling + external validation + biological interpretation.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58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All scripts: 01_data_acquisition.py … 10_final_report_figures.py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0029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Arial"/>
              </a:rPr>
              <a:t>Methods &amp; key parameters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64748B"/>
                </a:solidFill>
                <a:latin typeface="Arial"/>
              </a:rPr>
              <a:t>Documented in code + README —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115568"/>
            <a:ext cx="11076127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Arial"/>
              </a:rPr>
              <a:t>Preprocessing: CPM → log₂(count+1); keep genes with ≥ 1 CPM in ≥ 20% of samples; ML features = top 5,000 variance genes.</a:t>
            </a:r>
            <a:br/>
            <a:br/>
            <a:r>
              <a:rPr sz="1300" b="0">
                <a:solidFill>
                  <a:srgbClr val="1E293B"/>
                </a:solidFill>
                <a:latin typeface="Arial"/>
              </a:rPr>
              <a:t>Immune labels: ssGSEA + ESTIMATE; tertile split within cohort — Hot = highest third, Cold = lowest third, Intermediate = middle third of immune score.</a:t>
            </a:r>
            <a:br/>
            <a:br/>
            <a:r>
              <a:rPr sz="1300" b="0">
                <a:solidFill>
                  <a:srgbClr val="1E293B"/>
                </a:solidFill>
                <a:latin typeface="Arial"/>
              </a:rPr>
              <a:t>Hypothesis tests (per gene on COAD): Welch t (Hot vs Cold), one-way ANOVA (3 groups), Kruskal–Wallis, Mann–Whitney U, F-test of variances; clinical tables: χ². Multiple testing: Benjamini–Hochberg + Bonferroni on each p-value family.</a:t>
            </a:r>
            <a:br/>
            <a:br/>
            <a:r>
              <a:rPr sz="1300" b="0">
                <a:solidFill>
                  <a:srgbClr val="1E293B"/>
                </a:solidFill>
                <a:latin typeface="Arial"/>
              </a:rPr>
              <a:t>ML: six pipelines with SelectKBest(ANOVA, k=500); stratified 5-fold CV; random_state = 42. Survival: Kaplan–Meier, multivariate log-rank, penalised Cox on ssGSEA scores, PLS regression (expression → survival time).</a:t>
            </a:r>
            <a:br/>
            <a:br/>
            <a:r>
              <a:rPr sz="1300" b="0">
                <a:solidFill>
                  <a:srgbClr val="1E293B"/>
                </a:solidFill>
                <a:latin typeface="Arial"/>
              </a:rPr>
              <a:t>External validation: best CV model retrained on full COAD, evaluated on READ with aligned gene list.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858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Code annex: repository Python modules (attach per instructor format)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0029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Arial"/>
              </a:rPr>
              <a:t>Preprocessing &amp; distributional checks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64748B"/>
                </a:solidFill>
                <a:latin typeface="Arial"/>
              </a:rPr>
              <a:t>log₂(CPM+1) · filter ≥1.0 CPM in ≥20% samples</a:t>
            </a:r>
          </a:p>
        </p:txBody>
      </p:sp>
      <p:pic>
        <p:nvPicPr>
          <p:cNvPr id="4" name="Picture 3" descr="dist_check_TCGA-C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115568"/>
            <a:ext cx="11076127" cy="38667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510528"/>
            <a:ext cx="111858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QQ / histogram panels justify parametric tests alongside non-parametric checks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0029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Arial"/>
              </a:rPr>
              <a:t>Immune scoring &amp; phenotype labels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64748B"/>
                </a:solidFill>
                <a:latin typeface="Arial"/>
              </a:rPr>
              <a:t>ssGSEA gene sets + ESTIMATE · tertile labels</a:t>
            </a:r>
          </a:p>
        </p:txBody>
      </p:sp>
      <p:pic>
        <p:nvPicPr>
          <p:cNvPr id="4" name="Picture 3" descr="TCGA-COAD_ESTIMATE_Immune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5852160" cy="3560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234440"/>
            <a:ext cx="539496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293B"/>
                </a:solidFill>
                <a:latin typeface="Arial"/>
              </a:rPr>
              <a:t>Each bar stack shows how ESTIMATE immune scores distribute within Hot (red), Intermediate (grey), and Cold (blue) tertiles.</a:t>
            </a:r>
            <a:br/>
            <a:br/>
            <a:r>
              <a:rPr sz="1400" b="0">
                <a:solidFill>
                  <a:srgbClr val="1E293B"/>
                </a:solidFill>
                <a:latin typeface="Arial"/>
              </a:rPr>
              <a:t>This step replaces expensive multiplex IHC with a transparent, reproducible omics-based proxy — we interpret all downstream statistics as agreement with this immune ranking, not with pathology gold standard.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858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Outputs: labels_TCGA-*.csv, immune_scores_TCGA-*.csv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0029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Arial"/>
              </a:rPr>
              <a:t>Dimensionality reduction (TCGA-COAD)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64748B"/>
                </a:solidFill>
                <a:latin typeface="Arial"/>
              </a:rPr>
              <a:t>PC1 = 32.5% variance · PC2 = 9.4% · PC1+PC2 = 42.0%</a:t>
            </a:r>
          </a:p>
        </p:txBody>
      </p:sp>
      <p:pic>
        <p:nvPicPr>
          <p:cNvPr id="4" name="Picture 3" descr="TCGA-COAD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078992"/>
            <a:ext cx="5423763" cy="4430974"/>
          </a:xfrm>
          <a:prstGeom prst="rect">
            <a:avLst/>
          </a:prstGeom>
        </p:spPr>
      </p:pic>
      <p:pic>
        <p:nvPicPr>
          <p:cNvPr id="5" name="Picture 4" descr="TCGA-COAD_u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275" y="1078992"/>
            <a:ext cx="5423763" cy="46039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111858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Also computed: ICA, metric/non-metric MDS, t-SNE (figures in outputs/figures/dim_reduction/)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0029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Arial"/>
              </a:rPr>
              <a:t>Clustering vs immune labels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64748B"/>
                </a:solidFill>
                <a:latin typeface="Arial"/>
              </a:rPr>
              <a:t>Best match: k-means k=3 → ARI 0.114, AMI 0.119, silhouette 0.137</a:t>
            </a:r>
          </a:p>
        </p:txBody>
      </p:sp>
      <p:pic>
        <p:nvPicPr>
          <p:cNvPr id="4" name="Picture 3" descr="TCGA-COAD_silhouette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5806440" cy="27743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234440"/>
            <a:ext cx="562356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293B"/>
                </a:solidFill>
                <a:latin typeface="Arial"/>
              </a:rPr>
              <a:t>We also ran Ward hierarchical clustering (dendrogram) and DBSCAN on PCA space.</a:t>
            </a:r>
            <a:br/>
            <a:br/>
            <a:r>
              <a:rPr sz="1400" b="0">
                <a:solidFill>
                  <a:srgbClr val="1E293B"/>
                </a:solidFill>
                <a:latin typeface="Arial"/>
              </a:rPr>
              <a:t>Partial ARI/AMI means unsupervised clusters only weakly recover tertile labels — biologically reasonable because immune infiltration is continuous and Intermediate samples sit between extremes.</a:t>
            </a:r>
            <a:br/>
            <a:br/>
            <a:r>
              <a:rPr sz="1400" b="0">
                <a:solidFill>
                  <a:srgbClr val="1E293B"/>
                </a:solidFill>
                <a:latin typeface="Arial"/>
              </a:rPr>
              <a:t>Silhouette sweep guides choice of k for k-means.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858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outputs/tables/clustering_metrics_TCGA-COAD.csv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0029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Arial"/>
              </a:rPr>
              <a:t>Differential expression &amp; multiple testing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64748B"/>
                </a:solidFill>
                <a:latin typeface="Arial"/>
              </a:rPr>
              <a:t>Genes with BH q&lt;0.05 (Welch t): 8,198 · ANOVA: 10,369 · Kruskal–Wallis: 10,280 · Mann–Whitney: 8,362</a:t>
            </a:r>
          </a:p>
        </p:txBody>
      </p:sp>
      <p:pic>
        <p:nvPicPr>
          <p:cNvPr id="4" name="Picture 3" descr="volcano_TCGA-C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91640"/>
            <a:ext cx="6380689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1170432"/>
            <a:ext cx="111858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Arial"/>
              </a:rPr>
              <a:t>High-confidence DE (BH + |log₂FC|&gt;1): 2,269 genes — see heatmap_top40 in repo.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858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Bonferroni-corrected p-values also stored per test in dge_TCGA-COAD.csv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0029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Arial"/>
              </a:rPr>
              <a:t>Top DE genes (heatmap)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64748B"/>
                </a:solidFill>
                <a:latin typeface="Arial"/>
              </a:rPr>
              <a:t>Z-scored rows · columns ordered by immune label</a:t>
            </a:r>
          </a:p>
        </p:txBody>
      </p:sp>
      <p:pic>
        <p:nvPicPr>
          <p:cNvPr id="4" name="Picture 3" descr="heatmap_top40_TCGA-C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7882241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510528"/>
            <a:ext cx="111858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Biology: strong MHC class II and cytotoxic / NK-associated genes among top hits — matches published hot signatures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0029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Arial"/>
              </a:rPr>
              <a:t>Supervised learning (TCGA-COAD)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64748B"/>
                </a:solidFill>
                <a:latin typeface="Arial"/>
              </a:rPr>
              <a:t>Six models · 5-fold stratified CV · best by balanced accuracy: RandomForest</a:t>
            </a:r>
          </a:p>
        </p:txBody>
      </p:sp>
      <p:pic>
        <p:nvPicPr>
          <p:cNvPr id="4" name="Picture 3" descr="TCGA-COAD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5897880" cy="32122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56248" y="1234440"/>
            <a:ext cx="5486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293B"/>
                </a:solidFill>
                <a:latin typeface="Arial"/>
              </a:rPr>
              <a:t>Best model (RandomForest):</a:t>
            </a:r>
            <a:br/>
            <a:r>
              <a:rPr sz="1400" b="0">
                <a:solidFill>
                  <a:srgbClr val="1E293B"/>
                </a:solidFill>
                <a:latin typeface="Arial"/>
              </a:rPr>
              <a:t>  • Balanced accuracy (mean) = 0.785</a:t>
            </a:r>
            <a:br/>
            <a:r>
              <a:rPr sz="1400" b="0">
                <a:solidFill>
                  <a:srgbClr val="1E293B"/>
                </a:solidFill>
                <a:latin typeface="Arial"/>
              </a:rPr>
              <a:t>  • Accuracy (mean)         = 0.786</a:t>
            </a:r>
            <a:br/>
            <a:r>
              <a:rPr sz="1400" b="0">
                <a:solidFill>
                  <a:srgbClr val="1E293B"/>
                </a:solidFill>
                <a:latin typeface="Arial"/>
              </a:rPr>
              <a:t>  • Macro F1 (mean)         = 0.786</a:t>
            </a:r>
            <a:br/>
            <a:br/>
            <a:r>
              <a:rPr sz="1400" b="0">
                <a:solidFill>
                  <a:srgbClr val="1E293B"/>
                </a:solidFill>
                <a:latin typeface="Arial"/>
              </a:rPr>
              <a:t>Models compared: kNN-5, SVM-linear, SVM-RBF, Logistic, RandomForest, XGBoost.</a:t>
            </a:r>
            <a:br/>
            <a:r>
              <a:rPr sz="1400" b="0">
                <a:solidFill>
                  <a:srgbClr val="1E293B"/>
                </a:solidFill>
                <a:latin typeface="Arial"/>
              </a:rPr>
              <a:t>Pipeline: StandardScaler (where used) + SelectKBest(ANOVA, k=500) + classifier.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858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outputs/tables/cv_results_TCGA-COAD.csv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0029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Arial"/>
              </a:rPr>
              <a:t>Classifier behaviour (best model)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64748B"/>
                </a:solidFill>
                <a:latin typeface="Arial"/>
              </a:rPr>
              <a:t>Cross-validated predictions on COAD</a:t>
            </a:r>
          </a:p>
        </p:txBody>
      </p:sp>
      <p:pic>
        <p:nvPicPr>
          <p:cNvPr id="4" name="Picture 3" descr="TCGA-COAD_RandomForest_confm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1051560"/>
            <a:ext cx="5446623" cy="3322440"/>
          </a:xfrm>
          <a:prstGeom prst="rect">
            <a:avLst/>
          </a:prstGeom>
        </p:spPr>
      </p:pic>
      <p:pic>
        <p:nvPicPr>
          <p:cNvPr id="5" name="Picture 4" descr="TCGA-COAD_RandomForest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4135" y="1051560"/>
            <a:ext cx="5446623" cy="41011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111858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OvR ROC AUC values printed in legend inside figure files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0029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Arial"/>
              </a:rPr>
              <a:t>External validation — train COAD, test READ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64748B"/>
                </a:solidFill>
                <a:latin typeface="Arial"/>
              </a:rPr>
              <a:t>Frozen RandomForest · n = 109 · never used in training</a:t>
            </a:r>
          </a:p>
        </p:txBody>
      </p:sp>
      <p:pic>
        <p:nvPicPr>
          <p:cNvPr id="4" name="Picture 3" descr="validation_confmat_TCGA-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91640"/>
            <a:ext cx="5669280" cy="42231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234440"/>
            <a:ext cx="580644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E293B"/>
                </a:solidFill>
                <a:latin typeface="Arial"/>
              </a:rPr>
              <a:t>Held-out cohort metrics (same gene-space alignment; missing training genes zero-filled):</a:t>
            </a:r>
            <a:br/>
            <a:br/>
            <a:r>
              <a:rPr sz="1500" b="0">
                <a:solidFill>
                  <a:srgbClr val="1E293B"/>
                </a:solidFill>
                <a:latin typeface="Arial"/>
              </a:rPr>
              <a:t>  Accuracy          = 0.743</a:t>
            </a:r>
            <a:br/>
            <a:r>
              <a:rPr sz="1500" b="0">
                <a:solidFill>
                  <a:srgbClr val="1E293B"/>
                </a:solidFill>
                <a:latin typeface="Arial"/>
              </a:rPr>
              <a:t>  Balanced accuracy = 0.744</a:t>
            </a:r>
            <a:br/>
            <a:r>
              <a:rPr sz="1500" b="0">
                <a:solidFill>
                  <a:srgbClr val="1E293B"/>
                </a:solidFill>
                <a:latin typeface="Arial"/>
              </a:rPr>
              <a:t>  Macro F1          = 0.742</a:t>
            </a:r>
            <a:br/>
            <a:br/>
            <a:r>
              <a:rPr sz="1500" b="0">
                <a:solidFill>
                  <a:srgbClr val="1E293B"/>
                </a:solidFill>
                <a:latin typeface="Arial"/>
              </a:rPr>
              <a:t>Random baseline for 3 classes ≈ 33% accuracy — large margin confirms generalisation, not overfitting to COAD.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858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outputs/tables/external_validation_summary_TCGA-READ.csv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0029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Arial"/>
              </a:rPr>
              <a:t>Survival analysis (TCGA-COAD)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64748B"/>
                </a:solidFill>
                <a:latin typeface="Arial"/>
              </a:rPr>
              <a:t>Log-rank (3 groups): p = 0.081  (stat = 5.02)</a:t>
            </a:r>
          </a:p>
        </p:txBody>
      </p:sp>
      <p:pic>
        <p:nvPicPr>
          <p:cNvPr id="4" name="Picture 3" descr="TCGA-COAD_kaplan_me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5989320" cy="36384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1234440"/>
            <a:ext cx="5486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293B"/>
                </a:solidFill>
                <a:latin typeface="Arial"/>
              </a:rPr>
              <a:t>Kaplan–Meier stratified by ssGSEA immune label; shaded bands = confidence.</a:t>
            </a:r>
            <a:br/>
            <a:br/>
            <a:r>
              <a:rPr sz="1400" b="0">
                <a:solidFill>
                  <a:srgbClr val="1E293B"/>
                </a:solidFill>
                <a:latin typeface="Arial"/>
              </a:rPr>
              <a:t>Multivariate log-rank p does not cross α = 0.05 — interpret as directional trend (Cold worse than Hot) with limited death events / censoring.</a:t>
            </a:r>
            <a:br/>
            <a:br/>
            <a:r>
              <a:rPr sz="1400" b="0">
                <a:solidFill>
                  <a:srgbClr val="1E293B"/>
                </a:solidFill>
                <a:latin typeface="Arial"/>
              </a:rPr>
              <a:t>Cox model on ssGSEA cell scores + PLS of expression vs survival time in supplementary outputs.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858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outputs/tables/logrank_TCGA-COAD.csv · figures in outputs/figures/survival/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0029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Arial"/>
              </a:rPr>
              <a:t>Conclusions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64748B"/>
                </a:solidFill>
                <a:latin typeface="Arial"/>
              </a:rPr>
              <a:t>What we can claim with confidence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143000"/>
            <a:ext cx="11076127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4000"/>
              </a:lnSpc>
              <a:spcAft>
                <a:spcPts val="7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▸ Strong transcriptomic separation: 2,269 high-confidence DE genes; 8,198 genes significant by Welch t after BH.</a:t>
            </a:r>
          </a:p>
          <a:p>
            <a:pPr>
              <a:lnSpc>
                <a:spcPct val="114000"/>
              </a:lnSpc>
              <a:spcAft>
                <a:spcPts val="7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▸ Unsupervised views (PCA/UMAP) and clustering partially align with immune tertiles (e.g. k-means ARI 0.114).</a:t>
            </a:r>
          </a:p>
          <a:p>
            <a:pPr>
              <a:lnSpc>
                <a:spcPct val="114000"/>
              </a:lnSpc>
              <a:spcAft>
                <a:spcPts val="7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▸ Six classifiers; best CV balanced accuracy 0.785 on COAD (RandomForest).</a:t>
            </a:r>
          </a:p>
          <a:p>
            <a:pPr>
              <a:lnSpc>
                <a:spcPct val="114000"/>
              </a:lnSpc>
              <a:spcAft>
                <a:spcPts val="7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▸ External READ test: balanced accuracy 0.744 — robust generalisation to new patients.</a:t>
            </a:r>
          </a:p>
          <a:p>
            <a:pPr>
              <a:lnSpc>
                <a:spcPct val="114000"/>
              </a:lnSpc>
              <a:spcAft>
                <a:spcPts val="7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▸ Survival: trend consistent with literature; log-rank p = 0.081 (not significant at 0.05).</a:t>
            </a:r>
          </a:p>
          <a:p>
            <a:pPr>
              <a:lnSpc>
                <a:spcPct val="114000"/>
              </a:lnSpc>
              <a:spcAft>
                <a:spcPts val="7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▸ Limitations: ssGSEA labels ≠ pathology; READ is same RNA-seq platform as COAD; GEO cohorts not used in final scope.</a:t>
            </a:r>
          </a:p>
          <a:p>
            <a:pPr>
              <a:lnSpc>
                <a:spcPct val="114000"/>
              </a:lnSpc>
              <a:spcAft>
                <a:spcPts val="7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▸ Future: orthogonal validation (IHC or scRNA-seq), pathway-level Fisher/GSEA extensions, clinical covariate modelling.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858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Arial"/>
              </a:rPr>
              <a:t>https://github.com/Aryan7865/cold-hot-tumour-classification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0"/>
            <a:ext cx="1118585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  <a:p>
            <a:pPr algn="ctr">
              <a:spcBef>
                <a:spcPts val="1800"/>
              </a:spcBef>
            </a:pPr>
            <a:r>
              <a:rPr sz="2200" b="0">
                <a:solidFill>
                  <a:srgbClr val="06B6D4"/>
                </a:solidFill>
                <a:latin typeface="Arial"/>
              </a:rPr>
              <a:t>Questions?</a:t>
            </a:r>
          </a:p>
          <a:p>
            <a:pPr algn="ctr">
              <a:spcBef>
                <a:spcPts val="3600"/>
              </a:spcBef>
            </a:pPr>
            <a:r>
              <a:rPr sz="1200" b="0">
                <a:solidFill>
                  <a:srgbClr val="94A3B8"/>
                </a:solidFill>
                <a:latin typeface="Arial"/>
              </a:rPr>
              <a:t>https://github.com/Aryan7865/cold-hot-tumour-classification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013551" y="2011680"/>
            <a:ext cx="164592" cy="28346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